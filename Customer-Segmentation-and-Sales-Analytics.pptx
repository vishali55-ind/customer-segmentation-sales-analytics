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zeret Mono Medium" panose="020B0604020202020204" charset="0"/>
      <p:regular r:id="rId13"/>
    </p:embeddedFont>
    <p:embeddedFont>
      <p:font typeface="Mona Sans" panose="020B0604020202020204" charset="0"/>
      <p:regular r:id="rId14"/>
    </p:embeddedFont>
    <p:embeddedFont>
      <p:font typeface="Mona Sans Bold" panose="020B0604020202020204" charset="0"/>
      <p:regular r:id="rId15"/>
    </p:embeddedFont>
    <p:embeddedFont>
      <p:font typeface="Mona Sans SemiBold" panose="020B0604020202020204" charset="0"/>
      <p:regular r:id="rId16"/>
    </p:embeddedFont>
    <p:embeddedFont>
      <p:font typeface="Sora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75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81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85800"/>
            <a:ext cx="6603835" cy="5461000"/>
          </a:xfrm>
          <a:prstGeom prst="roundRect">
            <a:avLst>
              <a:gd name="adj" fmla="val 2791"/>
            </a:avLst>
          </a:prstGeom>
          <a:solidFill>
            <a:srgbClr val="0A1633">
              <a:alpha val="8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041374" y="1066800"/>
            <a:ext cx="6349841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150" kern="100" spc="69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IBM </a:t>
            </a:r>
            <a:r>
              <a:rPr lang="en-US" sz="1150" kern="100" spc="69" dirty="0" err="1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SkillsBuild</a:t>
            </a:r>
            <a:r>
              <a:rPr lang="en-US" sz="1150" kern="100" spc="69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 Data Analytics with AI Internship 2026</a:t>
            </a:r>
          </a:p>
          <a:p>
            <a:pPr>
              <a:lnSpc>
                <a:spcPct val="108000"/>
              </a:lnSpc>
            </a:pPr>
            <a:r>
              <a:rPr lang="en-US" sz="1150" kern="100" spc="69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AICTE–</a:t>
            </a:r>
            <a:r>
              <a:rPr lang="en-US" sz="1150" kern="100" spc="69" dirty="0" err="1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BharatCares</a:t>
            </a:r>
            <a:r>
              <a:rPr lang="en-US" sz="1150" kern="100" spc="69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–IBM </a:t>
            </a:r>
            <a:r>
              <a:rPr lang="en-US" sz="1150" kern="100" spc="69" dirty="0" err="1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SkillsBuild</a:t>
            </a:r>
            <a:r>
              <a:rPr lang="en-US" sz="1150" kern="100" spc="69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 Internship Program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41374" y="1612205"/>
            <a:ext cx="5740256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12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Customer Segmentation</a:t>
            </a:r>
            <a:endParaRPr lang="en-US" sz="56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12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and Sales Analytics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041374" y="4650680"/>
            <a:ext cx="574025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Using K-Means Clustering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41374" y="5174555"/>
            <a:ext cx="5740256" cy="787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500"/>
              </a:spcAft>
              <a:buNone/>
            </a:pPr>
            <a:r>
              <a:rPr lang="en-US" sz="1200" kern="100" spc="72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VISALINI S · 2024PECML192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PANIMALAR ENGINEERING COLLEGE · DEPARTMENT OF ARTIFICIAL INTELLIGENCE AND MACHINE LEARNING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2113756"/>
            <a:ext cx="11175720" cy="12700"/>
          </a:xfrm>
          <a:prstGeom prst="rect">
            <a:avLst/>
          </a:prstGeom>
          <a:solidFill>
            <a:srgbClr val="D6DEE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7987" y="1830983"/>
            <a:ext cx="886398" cy="231973"/>
          </a:xfrm>
          <a:prstGeom prst="roundRect">
            <a:avLst>
              <a:gd name="adj" fmla="val 26443"/>
            </a:avLst>
          </a:prstGeom>
          <a:noFill/>
          <a:ln w="6350">
            <a:solidFill>
              <a:srgbClr val="3D7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8253" y="1863030"/>
            <a:ext cx="133545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100" spc="69" dirty="0">
                <a:solidFill>
                  <a:srgbClr val="3D7B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02 / 10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02333" y="1863030"/>
            <a:ext cx="133545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100" spc="69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FRAMING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987" y="2253456"/>
            <a:ext cx="1117572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100" spc="-64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Why customer segmentation?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7987" y="2908201"/>
            <a:ext cx="3521979" cy="2118816"/>
          </a:xfrm>
          <a:prstGeom prst="roundRect">
            <a:avLst>
              <a:gd name="adj" fmla="val 428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6582" y="3136801"/>
            <a:ext cx="306479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Transactions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6582" y="3589536"/>
            <a:ext cx="3064791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Businesses generate large volumes of customer transaction data.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34759" y="2908201"/>
            <a:ext cx="3522078" cy="2118816"/>
          </a:xfrm>
          <a:prstGeom prst="roundRect">
            <a:avLst>
              <a:gd name="adj" fmla="val 428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63353" y="3136801"/>
            <a:ext cx="306489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Behaviour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63353" y="3589536"/>
            <a:ext cx="3064890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Raw records do not directly reveal which customers are regular, inactive, or highly valuable.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61629" y="2908201"/>
            <a:ext cx="3522078" cy="2118816"/>
          </a:xfrm>
          <a:prstGeom prst="roundRect">
            <a:avLst>
              <a:gd name="adj" fmla="val 428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390224" y="3136801"/>
            <a:ext cx="306489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Groups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90224" y="3589536"/>
            <a:ext cx="3064890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RFM analysis and K-Means clustering group customers by similar purchasing behaviour.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790773"/>
            <a:ext cx="11175720" cy="12700"/>
          </a:xfrm>
          <a:prstGeom prst="rect">
            <a:avLst/>
          </a:prstGeom>
          <a:solidFill>
            <a:srgbClr val="D6DEE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7987" y="508000"/>
            <a:ext cx="886398" cy="231973"/>
          </a:xfrm>
          <a:prstGeom prst="roundRect">
            <a:avLst>
              <a:gd name="adj" fmla="val 26443"/>
            </a:avLst>
          </a:prstGeom>
          <a:noFill/>
          <a:ln w="6350">
            <a:solidFill>
              <a:srgbClr val="3D7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8253" y="540048"/>
            <a:ext cx="133545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100" spc="69" dirty="0">
                <a:solidFill>
                  <a:srgbClr val="3D7B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03 / 10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02333" y="540048"/>
            <a:ext cx="133545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100" spc="69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FRAMING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987" y="1016198"/>
            <a:ext cx="11175720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100" spc="-64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The business challenge is turning transactions into action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7987" y="3123505"/>
            <a:ext cx="3521979" cy="1710035"/>
          </a:xfrm>
          <a:prstGeom prst="roundRect">
            <a:avLst>
              <a:gd name="adj" fmla="val 5303"/>
            </a:avLst>
          </a:prstGeom>
          <a:solidFill>
            <a:srgbClr val="002980"/>
          </a:solidFill>
          <a:ln/>
        </p:spPr>
      </p:sp>
      <p:sp>
        <p:nvSpPr>
          <p:cNvPr id="8" name="Text 6"/>
          <p:cNvSpPr/>
          <p:nvPr/>
        </p:nvSpPr>
        <p:spPr>
          <a:xfrm>
            <a:off x="736582" y="3352105"/>
            <a:ext cx="306479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Transaction complexity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6582" y="3804841"/>
            <a:ext cx="306479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D6DEEC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Large retail datasets are difficult to convert into actionable customer insight.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34759" y="3123505"/>
            <a:ext cx="3522078" cy="1710035"/>
          </a:xfrm>
          <a:prstGeom prst="roundRect">
            <a:avLst>
              <a:gd name="adj" fmla="val 5303"/>
            </a:avLst>
          </a:prstGeom>
          <a:solidFill>
            <a:srgbClr val="002980"/>
          </a:solidFill>
          <a:ln/>
        </p:spPr>
      </p:sp>
      <p:sp>
        <p:nvSpPr>
          <p:cNvPr id="11" name="Text 9"/>
          <p:cNvSpPr/>
          <p:nvPr/>
        </p:nvSpPr>
        <p:spPr>
          <a:xfrm>
            <a:off x="4563353" y="3352105"/>
            <a:ext cx="306489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One-size engagement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63353" y="3804841"/>
            <a:ext cx="30648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D6DEEC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Treating every customer similarly can weaken targeted engagement and retention activity.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61629" y="3123505"/>
            <a:ext cx="3522078" cy="1710035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390224" y="3352105"/>
            <a:ext cx="306489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Behavioural segments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90224" y="3804841"/>
            <a:ext cx="30648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 data-driven approach identifies groups based on purchasing behaviour.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7987" y="6063159"/>
            <a:ext cx="11683708" cy="286941"/>
          </a:xfrm>
          <a:prstGeom prst="rect">
            <a:avLst/>
          </a:prstGeom>
          <a:noFill/>
          <a:ln/>
        </p:spPr>
        <p:txBody>
          <a:bodyPr wrap="none" lIns="0" tIns="76198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TRANSACTIONS → BEHAVIOURAL FEATURES → ACTIONABLE SEGMENTS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790773"/>
            <a:ext cx="11175720" cy="12700"/>
          </a:xfrm>
          <a:prstGeom prst="rect">
            <a:avLst/>
          </a:prstGeom>
          <a:solidFill>
            <a:srgbClr val="D6DEE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7987" y="508000"/>
            <a:ext cx="886398" cy="231973"/>
          </a:xfrm>
          <a:prstGeom prst="roundRect">
            <a:avLst>
              <a:gd name="adj" fmla="val 26443"/>
            </a:avLst>
          </a:prstGeom>
          <a:noFill/>
          <a:ln w="6350">
            <a:solidFill>
              <a:srgbClr val="3D7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8253" y="540048"/>
            <a:ext cx="133545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100" spc="69" dirty="0">
                <a:solidFill>
                  <a:srgbClr val="3D7B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04 / 10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02333" y="540048"/>
            <a:ext cx="123177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100" spc="69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METHOD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987" y="1016198"/>
            <a:ext cx="1117572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100" spc="-64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Eight steps from raw data to recommendations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7987" y="1747143"/>
            <a:ext cx="378609" cy="378619"/>
          </a:xfrm>
          <a:prstGeom prst="ellipse">
            <a:avLst/>
          </a:prstGeom>
          <a:noFill/>
          <a:ln w="25399">
            <a:solidFill>
              <a:srgbClr val="1942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7360" y="1828502"/>
            <a:ext cx="82944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3D7B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38993" y="1790402"/>
            <a:ext cx="1064471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Load and examine the Online Retail dataset.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7987" y="2293144"/>
            <a:ext cx="414426" cy="414437"/>
          </a:xfrm>
          <a:prstGeom prst="ellipse">
            <a:avLst/>
          </a:prstGeom>
          <a:noFill/>
          <a:ln w="25399">
            <a:solidFill>
              <a:srgbClr val="1942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360" y="2392363"/>
            <a:ext cx="86526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3D7B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74810" y="2354262"/>
            <a:ext cx="1060889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Clean and prepare transaction data.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7987" y="2874963"/>
            <a:ext cx="418693" cy="418703"/>
          </a:xfrm>
          <a:prstGeom prst="ellipse">
            <a:avLst/>
          </a:prstGeom>
          <a:noFill/>
          <a:ln w="25399">
            <a:solidFill>
              <a:srgbClr val="1942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360" y="2976364"/>
            <a:ext cx="86953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3D7B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79076" y="2938264"/>
            <a:ext cx="1060463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Perform exploratory data analysis.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7987" y="3461147"/>
            <a:ext cx="432980" cy="432991"/>
          </a:xfrm>
          <a:prstGeom prst="ellipse">
            <a:avLst/>
          </a:prstGeom>
          <a:noFill/>
          <a:ln w="25399">
            <a:solidFill>
              <a:srgbClr val="1942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360" y="3569692"/>
            <a:ext cx="88381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3D7B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93363" y="3531592"/>
            <a:ext cx="1059034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Calculate customer-level RFM metrics.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987" y="4061619"/>
            <a:ext cx="422860" cy="422870"/>
          </a:xfrm>
          <a:prstGeom prst="ellipse">
            <a:avLst/>
          </a:prstGeom>
          <a:noFill/>
          <a:ln w="25399">
            <a:solidFill>
              <a:srgbClr val="1942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360" y="4165104"/>
            <a:ext cx="87369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3D7B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83243" y="4127004"/>
            <a:ext cx="1060046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Standardize RFM features.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7987" y="4651970"/>
            <a:ext cx="431293" cy="431304"/>
          </a:xfrm>
          <a:prstGeom prst="ellipse">
            <a:avLst/>
          </a:prstGeom>
          <a:noFill/>
          <a:ln w="25399">
            <a:solidFill>
              <a:srgbClr val="1942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7360" y="4759623"/>
            <a:ext cx="88213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3D7B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06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91677" y="4721523"/>
            <a:ext cx="1059203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Determine a suitable K-Means cluster count.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07987" y="5250755"/>
            <a:ext cx="415915" cy="415925"/>
          </a:xfrm>
          <a:prstGeom prst="ellipse">
            <a:avLst/>
          </a:prstGeom>
          <a:noFill/>
          <a:ln w="25399">
            <a:solidFill>
              <a:srgbClr val="1942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360" y="5350768"/>
            <a:ext cx="86675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3D7B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07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76298" y="5312668"/>
            <a:ext cx="1060741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Visualize and interpret customer segments.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07987" y="5834162"/>
            <a:ext cx="424546" cy="424557"/>
          </a:xfrm>
          <a:prstGeom prst="ellipse">
            <a:avLst/>
          </a:prstGeom>
          <a:noFill/>
          <a:ln w="25399">
            <a:solidFill>
              <a:srgbClr val="1942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7360" y="5938441"/>
            <a:ext cx="87538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3D7B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08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084930" y="5900341"/>
            <a:ext cx="1059877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Develop business recommendations.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07987" y="2210594"/>
            <a:ext cx="11175720" cy="12700"/>
          </a:xfrm>
          <a:prstGeom prst="rect">
            <a:avLst/>
          </a:prstGeom>
          <a:solidFill>
            <a:srgbClr val="22335C"/>
          </a:solidFill>
          <a:ln/>
        </p:spPr>
      </p:sp>
      <p:sp>
        <p:nvSpPr>
          <p:cNvPr id="32" name="Shape 30"/>
          <p:cNvSpPr/>
          <p:nvPr/>
        </p:nvSpPr>
        <p:spPr>
          <a:xfrm>
            <a:off x="507987" y="2792413"/>
            <a:ext cx="11175720" cy="12700"/>
          </a:xfrm>
          <a:prstGeom prst="rect">
            <a:avLst/>
          </a:prstGeom>
          <a:solidFill>
            <a:srgbClr val="22335C"/>
          </a:solidFill>
          <a:ln/>
        </p:spPr>
      </p:sp>
      <p:sp>
        <p:nvSpPr>
          <p:cNvPr id="33" name="Shape 31"/>
          <p:cNvSpPr/>
          <p:nvPr/>
        </p:nvSpPr>
        <p:spPr>
          <a:xfrm>
            <a:off x="507987" y="3378597"/>
            <a:ext cx="11175720" cy="12700"/>
          </a:xfrm>
          <a:prstGeom prst="rect">
            <a:avLst/>
          </a:prstGeom>
          <a:solidFill>
            <a:srgbClr val="22335C"/>
          </a:solidFill>
          <a:ln/>
        </p:spPr>
      </p:sp>
      <p:sp>
        <p:nvSpPr>
          <p:cNvPr id="34" name="Shape 32"/>
          <p:cNvSpPr/>
          <p:nvPr/>
        </p:nvSpPr>
        <p:spPr>
          <a:xfrm>
            <a:off x="507987" y="3979069"/>
            <a:ext cx="11175720" cy="12700"/>
          </a:xfrm>
          <a:prstGeom prst="rect">
            <a:avLst/>
          </a:prstGeom>
          <a:solidFill>
            <a:srgbClr val="22335C"/>
          </a:solidFill>
          <a:ln/>
        </p:spPr>
      </p:sp>
      <p:sp>
        <p:nvSpPr>
          <p:cNvPr id="35" name="Shape 33"/>
          <p:cNvSpPr/>
          <p:nvPr/>
        </p:nvSpPr>
        <p:spPr>
          <a:xfrm>
            <a:off x="507987" y="4569420"/>
            <a:ext cx="11175720" cy="12700"/>
          </a:xfrm>
          <a:prstGeom prst="rect">
            <a:avLst/>
          </a:prstGeom>
          <a:solidFill>
            <a:srgbClr val="22335C"/>
          </a:solidFill>
          <a:ln/>
        </p:spPr>
      </p:sp>
      <p:sp>
        <p:nvSpPr>
          <p:cNvPr id="36" name="Shape 34"/>
          <p:cNvSpPr/>
          <p:nvPr/>
        </p:nvSpPr>
        <p:spPr>
          <a:xfrm>
            <a:off x="507987" y="5168205"/>
            <a:ext cx="11175720" cy="12700"/>
          </a:xfrm>
          <a:prstGeom prst="rect">
            <a:avLst/>
          </a:prstGeom>
          <a:solidFill>
            <a:srgbClr val="22335C"/>
          </a:solidFill>
          <a:ln/>
        </p:spPr>
      </p:sp>
      <p:sp>
        <p:nvSpPr>
          <p:cNvPr id="37" name="Shape 35"/>
          <p:cNvSpPr/>
          <p:nvPr/>
        </p:nvSpPr>
        <p:spPr>
          <a:xfrm>
            <a:off x="507987" y="5751612"/>
            <a:ext cx="11175720" cy="12700"/>
          </a:xfrm>
          <a:prstGeom prst="rect">
            <a:avLst/>
          </a:prstGeom>
          <a:solidFill>
            <a:srgbClr val="22335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790773"/>
            <a:ext cx="11175720" cy="12700"/>
          </a:xfrm>
          <a:prstGeom prst="rect">
            <a:avLst/>
          </a:prstGeom>
          <a:solidFill>
            <a:srgbClr val="D6DEE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7987" y="508000"/>
            <a:ext cx="886398" cy="231973"/>
          </a:xfrm>
          <a:prstGeom prst="roundRect">
            <a:avLst>
              <a:gd name="adj" fmla="val 26443"/>
            </a:avLst>
          </a:prstGeom>
          <a:noFill/>
          <a:ln w="6350">
            <a:solidFill>
              <a:srgbClr val="3D7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8253" y="540048"/>
            <a:ext cx="133545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100" spc="69" dirty="0">
                <a:solidFill>
                  <a:srgbClr val="3D7B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05 / 10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02333" y="540048"/>
            <a:ext cx="133545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100" spc="69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DATASET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987" y="1016198"/>
            <a:ext cx="1117572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100" spc="-64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The dataset starts broad and ends analysis-ready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7987" y="1670943"/>
            <a:ext cx="2565336" cy="3990876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6582" y="1899543"/>
            <a:ext cx="2108147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ORIGINAL TRANSACTIONS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6582" y="2489299"/>
            <a:ext cx="2108147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88" dirty="0">
                <a:solidFill>
                  <a:srgbClr val="BB2611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541,909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36582" y="3822799"/>
            <a:ext cx="2108147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ORIGINAL TRANSACTIONS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78115" y="1670943"/>
            <a:ext cx="2565336" cy="3990876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06710" y="1899543"/>
            <a:ext cx="233674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ORIGINAL COLUMNS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06710" y="2291259"/>
            <a:ext cx="2108147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88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8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606710" y="3065959"/>
            <a:ext cx="233674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ORIGINAL COLUMNS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48244" y="1670943"/>
            <a:ext cx="2565336" cy="3990876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76838" y="1899543"/>
            <a:ext cx="233674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TRANSACTION PERIOD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76838" y="2291259"/>
            <a:ext cx="2108147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88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Dec 2010</a:t>
            </a:r>
            <a:endParaRPr lang="en-US" sz="4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88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– Dec 2011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9118372" y="1670943"/>
            <a:ext cx="2565336" cy="3990876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346966" y="1899543"/>
            <a:ext cx="2108147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CLEANED TRANSACTIONS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46966" y="2489299"/>
            <a:ext cx="2108147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88" dirty="0">
                <a:solidFill>
                  <a:srgbClr val="BB2611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392,692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346966" y="3822799"/>
            <a:ext cx="2108147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FINAL CLEANED TRANSACTIONS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987" y="5865019"/>
            <a:ext cx="11175720" cy="484981"/>
          </a:xfrm>
          <a:prstGeom prst="rect">
            <a:avLst/>
          </a:prstGeom>
          <a:noFill/>
          <a:ln/>
        </p:spPr>
        <p:txBody>
          <a:bodyPr wrap="square" lIns="0" tIns="76198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ATTRIBUTES · INVOICENO · STOCKCODE · DESCRIPTION · QUANTITY · INVOICEDATE · UNITPRICE · CUSTOMERID · COUNTRY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790773"/>
            <a:ext cx="11175720" cy="12700"/>
          </a:xfrm>
          <a:prstGeom prst="rect">
            <a:avLst/>
          </a:prstGeom>
          <a:solidFill>
            <a:srgbClr val="D6DEE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7987" y="508000"/>
            <a:ext cx="886398" cy="231973"/>
          </a:xfrm>
          <a:prstGeom prst="roundRect">
            <a:avLst>
              <a:gd name="adj" fmla="val 26443"/>
            </a:avLst>
          </a:prstGeom>
          <a:noFill/>
          <a:ln w="6350">
            <a:solidFill>
              <a:srgbClr val="3D7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8253" y="540048"/>
            <a:ext cx="133545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100" spc="69" dirty="0">
                <a:solidFill>
                  <a:srgbClr val="3D7B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06 / 10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02333" y="540048"/>
            <a:ext cx="17502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100" spc="69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PREPARATION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987" y="930473"/>
            <a:ext cx="11175720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100" spc="-64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Cleaning removes noise without losing customer signal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7987" y="2024063"/>
            <a:ext cx="3572778" cy="1627386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6582" y="2252663"/>
            <a:ext cx="82944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6582" y="2554883"/>
            <a:ext cx="3115490" cy="19050"/>
          </a:xfrm>
          <a:prstGeom prst="rect">
            <a:avLst/>
          </a:prstGeom>
          <a:solidFill>
            <a:srgbClr val="3D7BFF"/>
          </a:solidFill>
          <a:ln/>
        </p:spPr>
      </p:sp>
      <p:sp>
        <p:nvSpPr>
          <p:cNvPr id="10" name="Text 8"/>
          <p:cNvSpPr/>
          <p:nvPr/>
        </p:nvSpPr>
        <p:spPr>
          <a:xfrm>
            <a:off x="736582" y="2703413"/>
            <a:ext cx="311558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541,909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6582" y="3156148"/>
            <a:ext cx="33441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raw transactions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5557" y="2024063"/>
            <a:ext cx="3420481" cy="1627386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614152" y="2252663"/>
            <a:ext cx="86526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614152" y="2554883"/>
            <a:ext cx="2963292" cy="19050"/>
          </a:xfrm>
          <a:prstGeom prst="rect">
            <a:avLst/>
          </a:prstGeom>
          <a:solidFill>
            <a:srgbClr val="3D7BFF"/>
          </a:solidFill>
          <a:ln/>
        </p:spPr>
      </p:sp>
      <p:sp>
        <p:nvSpPr>
          <p:cNvPr id="15" name="Text 13"/>
          <p:cNvSpPr/>
          <p:nvPr/>
        </p:nvSpPr>
        <p:spPr>
          <a:xfrm>
            <a:off x="4614152" y="2703413"/>
            <a:ext cx="296329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−5,268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4152" y="3156148"/>
            <a:ext cx="319188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duplicates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10831" y="2024063"/>
            <a:ext cx="3572877" cy="1627386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425" y="2252663"/>
            <a:ext cx="86953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39425" y="2554883"/>
            <a:ext cx="3115688" cy="19050"/>
          </a:xfrm>
          <a:prstGeom prst="rect">
            <a:avLst/>
          </a:prstGeom>
          <a:solidFill>
            <a:srgbClr val="3D7BFF"/>
          </a:solidFill>
          <a:ln/>
        </p:spPr>
      </p:sp>
      <p:sp>
        <p:nvSpPr>
          <p:cNvPr id="20" name="Text 18"/>
          <p:cNvSpPr/>
          <p:nvPr/>
        </p:nvSpPr>
        <p:spPr>
          <a:xfrm>
            <a:off x="8339425" y="2703413"/>
            <a:ext cx="311568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−135,037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39425" y="3156148"/>
            <a:ext cx="334428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records without CustomerID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7987" y="3956248"/>
            <a:ext cx="3572778" cy="2160786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6582" y="4184848"/>
            <a:ext cx="88381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36582" y="4487069"/>
            <a:ext cx="3115490" cy="19050"/>
          </a:xfrm>
          <a:prstGeom prst="rect">
            <a:avLst/>
          </a:prstGeom>
          <a:solidFill>
            <a:srgbClr val="3D7B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6582" y="4635599"/>
            <a:ext cx="311558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−8,912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6582" y="5088334"/>
            <a:ext cx="33441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invalid quantity or price records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385557" y="3956248"/>
            <a:ext cx="3420481" cy="2160786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614152" y="4184848"/>
            <a:ext cx="87369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614152" y="4487069"/>
            <a:ext cx="2963292" cy="19050"/>
          </a:xfrm>
          <a:prstGeom prst="rect">
            <a:avLst/>
          </a:prstGeom>
          <a:solidFill>
            <a:srgbClr val="3D7BFF"/>
          </a:solidFill>
          <a:ln/>
        </p:spPr>
      </p:sp>
      <p:sp>
        <p:nvSpPr>
          <p:cNvPr id="30" name="Text 28"/>
          <p:cNvSpPr/>
          <p:nvPr/>
        </p:nvSpPr>
        <p:spPr>
          <a:xfrm>
            <a:off x="4614152" y="4635599"/>
            <a:ext cx="296329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392,692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614152" y="5088334"/>
            <a:ext cx="319188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cleaned transactions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110831" y="3956248"/>
            <a:ext cx="3572877" cy="2160786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339425" y="4184848"/>
            <a:ext cx="88213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06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8339425" y="4487069"/>
            <a:ext cx="3115688" cy="19050"/>
          </a:xfrm>
          <a:prstGeom prst="rect">
            <a:avLst/>
          </a:prstGeom>
          <a:solidFill>
            <a:srgbClr val="3D7BFF"/>
          </a:solidFill>
          <a:ln/>
        </p:spPr>
      </p:sp>
      <p:sp>
        <p:nvSpPr>
          <p:cNvPr id="35" name="Text 33"/>
          <p:cNvSpPr/>
          <p:nvPr/>
        </p:nvSpPr>
        <p:spPr>
          <a:xfrm>
            <a:off x="8339425" y="4635599"/>
            <a:ext cx="311568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TotalPrice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339425" y="5088334"/>
            <a:ext cx="311568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Create TotalPrice; parse InvoiceDate with the correct day-first format.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790773"/>
            <a:ext cx="11175720" cy="12700"/>
          </a:xfrm>
          <a:prstGeom prst="rect">
            <a:avLst/>
          </a:prstGeom>
          <a:solidFill>
            <a:srgbClr val="D6DEE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7987" y="508000"/>
            <a:ext cx="886398" cy="231973"/>
          </a:xfrm>
          <a:prstGeom prst="roundRect">
            <a:avLst>
              <a:gd name="adj" fmla="val 26443"/>
            </a:avLst>
          </a:prstGeom>
          <a:noFill/>
          <a:ln w="6350">
            <a:solidFill>
              <a:srgbClr val="3D7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8253" y="540048"/>
            <a:ext cx="133545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100" spc="69" dirty="0">
                <a:solidFill>
                  <a:srgbClr val="3D7B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07 / 10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02333" y="540048"/>
            <a:ext cx="257982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100" spc="69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987" y="1016198"/>
            <a:ext cx="1117572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100" spc="-64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RFM turns purchase history into customer behaviour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7987" y="1670943"/>
            <a:ext cx="3521979" cy="2679601"/>
          </a:xfrm>
          <a:prstGeom prst="roundRect">
            <a:avLst>
              <a:gd name="adj" fmla="val 3384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6582" y="1899543"/>
            <a:ext cx="329338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RECENCY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6582" y="2291259"/>
            <a:ext cx="3064791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88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92.54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36582" y="3065959"/>
            <a:ext cx="3064791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DAYS · HOW RECENTLY THE CUSTOMER PURCHASED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4759" y="1670943"/>
            <a:ext cx="3522078" cy="2679601"/>
          </a:xfrm>
          <a:prstGeom prst="roundRect">
            <a:avLst>
              <a:gd name="adj" fmla="val 3384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63353" y="1899543"/>
            <a:ext cx="329348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FREQUENCY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63353" y="2291259"/>
            <a:ext cx="306489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88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4.27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563353" y="3065959"/>
            <a:ext cx="3064890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UNIQUE INVOICES · NUMBER OF UNIQUE INVOICES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61629" y="1670943"/>
            <a:ext cx="3522078" cy="2679601"/>
          </a:xfrm>
          <a:prstGeom prst="roundRect">
            <a:avLst>
              <a:gd name="adj" fmla="val 3384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390224" y="1899543"/>
            <a:ext cx="329348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MONETARY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90224" y="2291259"/>
            <a:ext cx="306489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88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£2,048.69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390224" y="3065959"/>
            <a:ext cx="3064890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MEAN TOTAL CUSTOMER PURCHASE VALUE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7987" y="4579144"/>
            <a:ext cx="6705432" cy="1770856"/>
          </a:xfrm>
          <a:prstGeom prst="rect">
            <a:avLst/>
          </a:prstGeom>
          <a:solidFill>
            <a:srgbClr val="2454B8"/>
          </a:solidFill>
          <a:ln/>
        </p:spPr>
      </p:sp>
      <p:sp>
        <p:nvSpPr>
          <p:cNvPr id="20" name="Text 18"/>
          <p:cNvSpPr/>
          <p:nvPr/>
        </p:nvSpPr>
        <p:spPr>
          <a:xfrm>
            <a:off x="736582" y="4756944"/>
            <a:ext cx="647683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69" dirty="0">
                <a:solidFill>
                  <a:srgbClr val="FFFF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CUSTOMER BEHAVIOUR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6582" y="5032474"/>
            <a:ext cx="624824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RFM representation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213420" y="4579144"/>
            <a:ext cx="4470288" cy="1770856"/>
          </a:xfrm>
          <a:prstGeom prst="roundRect">
            <a:avLst>
              <a:gd name="adj" fmla="val 5120"/>
            </a:avLst>
          </a:prstGeom>
          <a:noFill/>
          <a:ln w="25399">
            <a:solidFill>
              <a:srgbClr val="1942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67413" y="4782344"/>
            <a:ext cx="421629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ANALYSIS BASE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67413" y="5174059"/>
            <a:ext cx="3962301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88" dirty="0">
                <a:solidFill>
                  <a:srgbClr val="EE5A4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4,338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7467413" y="5948759"/>
            <a:ext cx="421629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UNIQUE CUSTOMERS ANALYSED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790773"/>
            <a:ext cx="3677848" cy="12700"/>
          </a:xfrm>
          <a:prstGeom prst="rect">
            <a:avLst/>
          </a:prstGeom>
          <a:solidFill>
            <a:srgbClr val="D6DEE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7987" y="508000"/>
            <a:ext cx="886398" cy="231973"/>
          </a:xfrm>
          <a:prstGeom prst="roundRect">
            <a:avLst>
              <a:gd name="adj" fmla="val 26443"/>
            </a:avLst>
          </a:prstGeom>
          <a:noFill/>
          <a:ln w="6350">
            <a:solidFill>
              <a:srgbClr val="3D7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8253" y="540048"/>
            <a:ext cx="133545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100" spc="69" dirty="0">
                <a:solidFill>
                  <a:srgbClr val="3D7B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08 / 10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02333" y="540048"/>
            <a:ext cx="164659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100" spc="69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CLUSTERING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987" y="1016198"/>
            <a:ext cx="3677848" cy="1755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100" spc="-64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K-Means finds four groups in standardized RFM space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7987" y="2987477"/>
            <a:ext cx="3677848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6DEEC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Standardize RFM features using StandardScaler. Examine the Elbow Method for </a:t>
            </a:r>
            <a:r>
              <a:rPr lang="en-US" sz="1700" b="1" dirty="0">
                <a:solidFill>
                  <a:srgbClr val="D6DEEC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k = 1 to 10</a:t>
            </a:r>
            <a:r>
              <a:rPr lang="en-US" sz="1700" dirty="0">
                <a:solidFill>
                  <a:srgbClr val="D6DEEC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7987" y="4546203"/>
            <a:ext cx="3677848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12" dirty="0">
                <a:solidFill>
                  <a:srgbClr val="EE5A4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k = 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07987" y="5473303"/>
            <a:ext cx="4185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FINAL NUMBER OF CLUSTERS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987" y="5865019"/>
            <a:ext cx="3677848" cy="484981"/>
          </a:xfrm>
          <a:prstGeom prst="rect">
            <a:avLst/>
          </a:prstGeom>
          <a:noFill/>
          <a:ln/>
        </p:spPr>
        <p:txBody>
          <a:bodyPr wrap="square" lIns="0" tIns="76198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FINAL INERTIA · 4,096.30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SILHOUETTE SCORE · 0.6162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50912" y="0"/>
            <a:ext cx="7040783" cy="685800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658899" y="508000"/>
            <a:ext cx="653279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69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ELBOW METHOD · PROVIDED RANGE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58899" y="3026767"/>
            <a:ext cx="6024809" cy="38100"/>
          </a:xfrm>
          <a:prstGeom prst="roundRect">
            <a:avLst>
              <a:gd name="adj" fmla="val 49999"/>
            </a:avLst>
          </a:prstGeom>
          <a:solidFill>
            <a:srgbClr val="3D7BFF"/>
          </a:solidFill>
          <a:ln/>
        </p:spPr>
      </p:sp>
      <p:sp>
        <p:nvSpPr>
          <p:cNvPr id="14" name="Text 12"/>
          <p:cNvSpPr/>
          <p:nvPr/>
        </p:nvSpPr>
        <p:spPr>
          <a:xfrm>
            <a:off x="5658899" y="3312517"/>
            <a:ext cx="46532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k=1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76520" y="3312517"/>
            <a:ext cx="46542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k=2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94241" y="3312517"/>
            <a:ext cx="46542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k=3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11961" y="3312517"/>
            <a:ext cx="46542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k=4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9682" y="3312517"/>
            <a:ext cx="46532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k=5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47402" y="3312517"/>
            <a:ext cx="46542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k=6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65123" y="3312517"/>
            <a:ext cx="46542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k=7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982843" y="3312517"/>
            <a:ext cx="46542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k=8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600564" y="3312517"/>
            <a:ext cx="46542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k=9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218284" y="3312517"/>
            <a:ext cx="46532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k=10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58899" y="3772892"/>
            <a:ext cx="653279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Selected solution:</a:t>
            </a:r>
            <a:r>
              <a:rPr lang="en-US" sz="17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k = 4 · final inertia 4,096.30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790773"/>
            <a:ext cx="3286737" cy="12700"/>
          </a:xfrm>
          <a:prstGeom prst="rect">
            <a:avLst/>
          </a:prstGeom>
          <a:solidFill>
            <a:srgbClr val="D6DEE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7987" y="508000"/>
            <a:ext cx="886398" cy="231973"/>
          </a:xfrm>
          <a:prstGeom prst="roundRect">
            <a:avLst>
              <a:gd name="adj" fmla="val 26443"/>
            </a:avLst>
          </a:prstGeom>
          <a:noFill/>
          <a:ln w="6350">
            <a:solidFill>
              <a:srgbClr val="3D7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8253" y="540048"/>
            <a:ext cx="133545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100" spc="69" dirty="0">
                <a:solidFill>
                  <a:srgbClr val="3D7B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09 / 10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02333" y="540048"/>
            <a:ext cx="257982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100" spc="69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DIMENSION REDUCTION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987" y="930473"/>
            <a:ext cx="3286737" cy="13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100" spc="-64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PCA makes the four segments visible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7987" y="2462907"/>
            <a:ext cx="328673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6DEEC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PCA visualizes the standardized RFM feature space in two dimensions.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7987" y="3615630"/>
            <a:ext cx="3286737" cy="31651"/>
          </a:xfrm>
          <a:prstGeom prst="roundRect">
            <a:avLst>
              <a:gd name="adj" fmla="val 49998"/>
            </a:avLst>
          </a:prstGeom>
          <a:solidFill>
            <a:srgbClr val="22335C"/>
          </a:solidFill>
          <a:ln/>
        </p:spPr>
      </p:sp>
      <p:sp>
        <p:nvSpPr>
          <p:cNvPr id="9" name="Text 7"/>
          <p:cNvSpPr/>
          <p:nvPr/>
        </p:nvSpPr>
        <p:spPr>
          <a:xfrm>
            <a:off x="507987" y="3893443"/>
            <a:ext cx="3286737" cy="798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D6DEEC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PC1:</a:t>
            </a:r>
            <a:r>
              <a:rPr lang="en-US" sz="1700" dirty="0">
                <a:solidFill>
                  <a:srgbClr val="D6DEEC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55.47%</a:t>
            </a:r>
            <a:endParaRPr lang="en-US" sz="17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6DEEC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PC2:</a:t>
            </a:r>
            <a:r>
              <a:rPr lang="en-US" sz="1700" dirty="0">
                <a:solidFill>
                  <a:srgbClr val="D6DEEC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30.25%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7987" y="4885234"/>
            <a:ext cx="379472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COMBINED VARIANCE EXPLAINED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987" y="5451574"/>
            <a:ext cx="3286737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88" dirty="0">
                <a:solidFill>
                  <a:srgbClr val="3D7B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85.73%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4759801" y="0"/>
            <a:ext cx="7431894" cy="685800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789" y="508000"/>
            <a:ext cx="6415919" cy="43463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790773"/>
            <a:ext cx="11175720" cy="12700"/>
          </a:xfrm>
          <a:prstGeom prst="rect">
            <a:avLst/>
          </a:prstGeom>
          <a:solidFill>
            <a:srgbClr val="D6DEE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7987" y="508000"/>
            <a:ext cx="886398" cy="231973"/>
          </a:xfrm>
          <a:prstGeom prst="roundRect">
            <a:avLst>
              <a:gd name="adj" fmla="val 26443"/>
            </a:avLst>
          </a:prstGeom>
          <a:noFill/>
          <a:ln w="6350">
            <a:solidFill>
              <a:srgbClr val="3D7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8253" y="540048"/>
            <a:ext cx="133545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100" spc="69" dirty="0">
                <a:solidFill>
                  <a:srgbClr val="3D7B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10 / 10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02333" y="540048"/>
            <a:ext cx="143913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100" spc="69" dirty="0">
                <a:solidFill>
                  <a:srgbClr val="9FB0CC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SEGMENTS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987" y="1016198"/>
            <a:ext cx="1117572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100" spc="-64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Four segments reveal distinct engagement patterns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7987" y="1670943"/>
            <a:ext cx="5511662" cy="2263279"/>
          </a:xfrm>
          <a:prstGeom prst="roundRect">
            <a:avLst>
              <a:gd name="adj" fmla="val 4006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60383" y="1823343"/>
            <a:ext cx="535926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69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CLUSTER 0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0383" y="2098873"/>
            <a:ext cx="520687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Regular Customers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0383" y="2617589"/>
            <a:ext cx="535926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3,054 CUSTOMERS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0383" y="2942630"/>
            <a:ext cx="520687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Recency</a:t>
            </a: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43.70 days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Frequency</a:t>
            </a: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3.68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Monetary</a:t>
            </a: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£1,353.63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046" y="1670943"/>
            <a:ext cx="5511662" cy="2263279"/>
          </a:xfrm>
          <a:prstGeom prst="roundRect">
            <a:avLst>
              <a:gd name="adj" fmla="val 4006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324442" y="1823343"/>
            <a:ext cx="535926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69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CLUSTER 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24442" y="2098873"/>
            <a:ext cx="520687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At-Risk / Inactive Customers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24442" y="2617589"/>
            <a:ext cx="535926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1,067 CUSTOMERS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24442" y="2942630"/>
            <a:ext cx="520687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Recency</a:t>
            </a: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248.08 days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Frequency</a:t>
            </a: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1.55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Monetary</a:t>
            </a: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£478.85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7987" y="4086622"/>
            <a:ext cx="5511662" cy="2263378"/>
          </a:xfrm>
          <a:prstGeom prst="roundRect">
            <a:avLst>
              <a:gd name="adj" fmla="val 4006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0383" y="4239022"/>
            <a:ext cx="535926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69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CLUSTER 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0383" y="4514552"/>
            <a:ext cx="520687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VIP / Champion Customers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0383" y="5033268"/>
            <a:ext cx="535926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13 CUSTOMERS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0383" y="5358309"/>
            <a:ext cx="520687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Recency</a:t>
            </a: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7.38 days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Frequency</a:t>
            </a: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82.54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Monetary</a:t>
            </a: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£127,187.96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72046" y="4086622"/>
            <a:ext cx="5511662" cy="2263378"/>
          </a:xfrm>
          <a:prstGeom prst="roundRect">
            <a:avLst>
              <a:gd name="adj" fmla="val 4006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324442" y="4239022"/>
            <a:ext cx="535926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69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CLUSTER 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24442" y="4514552"/>
            <a:ext cx="520687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High-Value Loyal Customers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24442" y="5033268"/>
            <a:ext cx="535926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204 CUSTOMERS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4442" y="5358309"/>
            <a:ext cx="520687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Recency</a:t>
            </a: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15.50 days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Frequency</a:t>
            </a: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22.33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Monetary</a:t>
            </a:r>
            <a:r>
              <a:rPr lang="en-US" sz="150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£12,690.50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565</Words>
  <Application>Microsoft Office PowerPoint</Application>
  <PresentationFormat>Widescreen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Mona Sans Bold</vt:lpstr>
      <vt:lpstr>Sora Bold</vt:lpstr>
      <vt:lpstr>Azeret Mono Medium</vt:lpstr>
      <vt:lpstr>Mona Sans</vt:lpstr>
      <vt:lpstr>Mona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VISALINI S</cp:lastModifiedBy>
  <cp:revision>2</cp:revision>
  <dcterms:created xsi:type="dcterms:W3CDTF">2026-10-01T19:28:34Z</dcterms:created>
  <dcterms:modified xsi:type="dcterms:W3CDTF">2026-10-02T07:11:01Z</dcterms:modified>
</cp:coreProperties>
</file>